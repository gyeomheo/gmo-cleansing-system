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3edecd709f2e4c6b" Type="http://schemas.openxmlformats.org/officeDocument/2006/relationships/extended-properties" Target="/docProps/app.xml"/><Relationship Id="rId1" Type="http://schemas.openxmlformats.org/officeDocument/2006/relationships/custom-properties" Target="docProps/custom.xml"/><Relationship Id="R55df80d00a484248" Type="http://schemas.openxmlformats.org/package/2006/relationships/metadata/core-properties" Target="/docProps/core.xml"/><Relationship Id="Rd5ddc724c7914559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799fac649f47c7"/>
  </p:sldMasterIdLst>
  <p:notesMasterIdLst>
    <p:notesMasterId xmlns:r="http://schemas.openxmlformats.org/officeDocument/2006/relationships" r:id="R814301c3bc894780"/>
  </p:notesMasterIdLst>
  <p:sldIdLst>
    <p:sldId xmlns:r="http://schemas.openxmlformats.org/officeDocument/2006/relationships" id="256" r:id="R451bf82b3b1341f5"/>
    <p:sldId xmlns:r="http://schemas.openxmlformats.org/officeDocument/2006/relationships" id="257" r:id="R2d8ca1df9d8d43c5"/>
    <p:sldId xmlns:r="http://schemas.openxmlformats.org/officeDocument/2006/relationships" id="258" r:id="R323f8113d8cd4a78"/>
    <p:sldId xmlns:r="http://schemas.openxmlformats.org/officeDocument/2006/relationships" id="259" r:id="Rcfd8c394e4fb47f0"/>
    <p:sldId xmlns:r="http://schemas.openxmlformats.org/officeDocument/2006/relationships" id="260" r:id="Rab7d759d91c44a80"/>
    <p:sldId xmlns:r="http://schemas.openxmlformats.org/officeDocument/2006/relationships" id="261" r:id="Ra015c2b3e0634f1a"/>
    <p:sldId xmlns:r="http://schemas.openxmlformats.org/officeDocument/2006/relationships" id="262" r:id="Rbc50b0c85e2d445a"/>
    <p:sldId xmlns:r="http://schemas.openxmlformats.org/officeDocument/2006/relationships" id="263" r:id="Ra8d8596d1bb847ee"/>
    <p:sldId xmlns:r="http://schemas.openxmlformats.org/officeDocument/2006/relationships" id="264" r:id="R2a759c5fb2324b73"/>
    <p:sldId xmlns:r="http://schemas.openxmlformats.org/officeDocument/2006/relationships" id="265" r:id="R993ed7ecd53e4728"/>
    <p:sldId xmlns:r="http://schemas.openxmlformats.org/officeDocument/2006/relationships" id="266" r:id="R71f2c7b68ce447c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
<Relationships xmlns="http://schemas.openxmlformats.org/package/2006/relationships"><Relationship Id="R3b799fac649f47c7" Type="http://schemas.openxmlformats.org/officeDocument/2006/relationships/slideMaster" Target="/ppt/slideMasters/slideMaster1.xml"/><Relationship Id="Rbc50b0c85e2d445a" Type="http://schemas.openxmlformats.org/officeDocument/2006/relationships/slide" Target="/ppt/slides/slide7.xml"/><Relationship Id="Ra015c2b3e0634f1a" Type="http://schemas.openxmlformats.org/officeDocument/2006/relationships/slide" Target="/ppt/slides/slide6.xml"/><Relationship Id="Ra8d8596d1bb847ee" Type="http://schemas.openxmlformats.org/officeDocument/2006/relationships/slide" Target="/ppt/slides/slide8.xml"/><Relationship Id="rId3" Type="http://schemas.openxmlformats.org/officeDocument/2006/relationships/customXml" Target="../customXml/item3.xml"/><Relationship Id="Rbbb32b3ecaaf46f5" Type="http://schemas.openxmlformats.org/officeDocument/2006/relationships/tableStyles" Target="/ppt/tableStyles.xml"/><Relationship Id="R323f8113d8cd4a78" Type="http://schemas.openxmlformats.org/officeDocument/2006/relationships/slide" Target="/ppt/slides/slide3.xml"/><Relationship Id="R55fefdcd3611461d" Type="http://schemas.openxmlformats.org/officeDocument/2006/relationships/theme" Target="/ppt/theme/theme1.xml"/><Relationship Id="R2a759c5fb2324b73" Type="http://schemas.openxmlformats.org/officeDocument/2006/relationships/slide" Target="/ppt/slides/slide9.xml"/><Relationship Id="rId2" Type="http://schemas.openxmlformats.org/officeDocument/2006/relationships/customXml" Target="../customXml/item2.xml"/><Relationship Id="R68e2cf9a3945450b" Type="http://schemas.openxmlformats.org/officeDocument/2006/relationships/presProps" Target="/ppt/presProps.xml"/><Relationship Id="Rab7d759d91c44a80" Type="http://schemas.openxmlformats.org/officeDocument/2006/relationships/slide" Target="/ppt/slides/slide5.xml"/><Relationship Id="rId1" Type="http://schemas.openxmlformats.org/officeDocument/2006/relationships/customXml" Target="../customXml/item1.xml"/><Relationship Id="R451bf82b3b1341f5" Type="http://schemas.openxmlformats.org/officeDocument/2006/relationships/slide" Target="/ppt/slides/slide1.xml"/><Relationship Id="R2d8ca1df9d8d43c5" Type="http://schemas.openxmlformats.org/officeDocument/2006/relationships/slide" Target="/ppt/slides/slide2.xml"/><Relationship Id="Rcfd8c394e4fb47f0" Type="http://schemas.openxmlformats.org/officeDocument/2006/relationships/slide" Target="/ppt/slides/slide4.xml"/><Relationship Id="R71f2c7b68ce447c5" Type="http://schemas.openxmlformats.org/officeDocument/2006/relationships/slide" Target="/ppt/slides/slide11.xml"/><Relationship Id="R814301c3bc894780" Type="http://schemas.openxmlformats.org/officeDocument/2006/relationships/notesMaster" Target="/ppt/notesMasters/notesMaster1.xml"/><Relationship Id="R993ed7ecd53e4728" Type="http://schemas.openxmlformats.org/officeDocument/2006/relationships/slide" Target="/ppt/slides/slide10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c0759f58aa4e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c86298127f480e" /><Relationship Type="http://schemas.openxmlformats.org/officeDocument/2006/relationships/notesMaster" Target="/ppt/notesMasters/notesMaster1.xml" Id="R7a2f7527d06c42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58050de5894f9e" /><Relationship Type="http://schemas.openxmlformats.org/officeDocument/2006/relationships/notesMaster" Target="/ppt/notesMasters/notesMaster1.xml" Id="R4cda4df6d8a244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6547707716458a" /><Relationship Type="http://schemas.openxmlformats.org/officeDocument/2006/relationships/notesMaster" Target="/ppt/notesMasters/notesMaster1.xml" Id="R559c62b5aff746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b9cb1175d34625" /><Relationship Type="http://schemas.openxmlformats.org/officeDocument/2006/relationships/notesMaster" Target="/ppt/notesMasters/notesMaster1.xml" Id="Rd9967fd593c846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714245b84643ac" /><Relationship Type="http://schemas.openxmlformats.org/officeDocument/2006/relationships/notesMaster" Target="/ppt/notesMasters/notesMaster1.xml" Id="R2c92fa775f0741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b39b93e0884fcc" /><Relationship Type="http://schemas.openxmlformats.org/officeDocument/2006/relationships/notesMaster" Target="/ppt/notesMasters/notesMaster1.xml" Id="Re3df0b483c4343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a64ad5fbe741ca" /><Relationship Type="http://schemas.openxmlformats.org/officeDocument/2006/relationships/notesMaster" Target="/ppt/notesMasters/notesMaster1.xml" Id="R09679bd2ed9542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1f0871cb534f59" /><Relationship Type="http://schemas.openxmlformats.org/officeDocument/2006/relationships/notesMaster" Target="/ppt/notesMasters/notesMaster1.xml" Id="Rad312dd35a2248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fda6ddcf3a42d1" /><Relationship Type="http://schemas.openxmlformats.org/officeDocument/2006/relationships/notesMaster" Target="/ppt/notesMasters/notesMaster1.xml" Id="Re2c6106367ed4a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52db74b0b54241" /><Relationship Type="http://schemas.openxmlformats.org/officeDocument/2006/relationships/notesMaster" Target="/ppt/notesMasters/notesMaster1.xml" Id="R1bdb6de281dd4b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fd3f79f3544528" /><Relationship Type="http://schemas.openxmlformats.org/officeDocument/2006/relationships/notesMaster" Target="/ppt/notesMasters/notesMaster1.xml" Id="Re9aaa680fbd44a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87df4cc0c40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fcd2eaf88943c3" /><Relationship Type="http://schemas.openxmlformats.org/officeDocument/2006/relationships/slideLayout" Target="/ppt/slideLayouts/slideLayout1.xml" Id="Rf31232e4beeb4a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1232e4beeb4a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db8d314ea428f" /><Relationship Type="http://schemas.openxmlformats.org/officeDocument/2006/relationships/notesSlide" Target="/ppt/notesSlides/notesSlide1.xml" Id="R178173e0f4524e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0116f8c234a6c" /><Relationship Type="http://schemas.openxmlformats.org/officeDocument/2006/relationships/notesSlide" Target="/ppt/notesSlides/notesSlide2.xml" Id="R0efbaa93486f41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ad05f48604c37" /><Relationship Type="http://schemas.openxmlformats.org/officeDocument/2006/relationships/notesSlide" Target="/ppt/notesSlides/notesSlide3.xml" Id="R4de226d3213c46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2dd9aec444206" /><Relationship Type="http://schemas.openxmlformats.org/officeDocument/2006/relationships/notesSlide" Target="/ppt/notesSlides/notesSlide4.xml" Id="R867a5d74fef545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602d52ac948b5" /><Relationship Type="http://schemas.openxmlformats.org/officeDocument/2006/relationships/notesSlide" Target="/ppt/notesSlides/notesSlide5.xml" Id="R28f870c838bc44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45c56023047e4" /><Relationship Type="http://schemas.openxmlformats.org/officeDocument/2006/relationships/notesSlide" Target="/ppt/notesSlides/notesSlide6.xml" Id="Ra2e390c0746a40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6afdf01f44f45" /><Relationship Type="http://schemas.openxmlformats.org/officeDocument/2006/relationships/notesSlide" Target="/ppt/notesSlides/notesSlide7.xml" Id="R7cd5d5944f274f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bd44cfede4ca7" /><Relationship Type="http://schemas.openxmlformats.org/officeDocument/2006/relationships/notesSlide" Target="/ppt/notesSlides/notesSlide8.xml" Id="R81ee803d29ce4d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2308de73542e6" /><Relationship Type="http://schemas.openxmlformats.org/officeDocument/2006/relationships/notesSlide" Target="/ppt/notesSlides/notesSlide9.xml" Id="Re2c3532921d34c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e1184965648ae" /><Relationship Type="http://schemas.openxmlformats.org/officeDocument/2006/relationships/notesSlide" Target="/ppt/notesSlides/notesSlide10.xml" Id="Ra0112f306b5449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b8cebe3984ec5" /><Relationship Type="http://schemas.openxmlformats.org/officeDocument/2006/relationships/notesSlide" Target="/ppt/notesSlides/notesSlide11.xml" Id="R3016e4dfd4ce48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ECDD7B-1BE1-417E-BE30-8DEE04AF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742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2033"/>
                </a:solidFill>
              </a:defRPr>
            </a:pPr>
            <a:r>
              <a:rPr sz="4200" b="1">
                <a:solidFill>
                  <a:srgbClr val="172033"/>
                </a:solidFill>
              </a:rPr>
              <a:t>GMO Cleansing</a:t>
            </a:r>
          </a:p>
          <a:p xmlns:a="http://schemas.openxmlformats.org/drawingml/2006/main">
            <a:pPr algn="l">
              <a:defRPr sz="4200" b="1">
                <a:solidFill>
                  <a:srgbClr val="172033"/>
                </a:solidFill>
              </a:defRPr>
            </a:pPr>
            <a:r>
              <a:rPr sz="4200" b="1">
                <a:solidFill>
                  <a:srgbClr val="172033"/>
                </a:solidFill>
              </a:rPr>
              <a:t>Logic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B2702-2E33-4A6A-B2A6-7DF1E24D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운영 위치: C:\GMO_CLEANSING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입력 CSV, 매핑 Excel, 클렌징 결과, 마스터 DB 갱신 로직 인수인계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7071B-0999-4DC2-84F6-5F71E29F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668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EBC2A-DC98-49D0-91F9-F0653823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668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37FC7-918F-44C6-956F-A27113D0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573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진입점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B1ED0-253A-41D0-AC2B-A56A7C93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193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run.py / main_workflow()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1BA9C-9A87-45FB-B401-2478AEA4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BE9F0-387B-4EC8-8AB5-CBAE5D07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98A83-3742-4543-9D30-2824830C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765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핵심 모듈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9993E-82F9-4AB7-BEFB-A463A2F4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385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src/pipeline.py, updater.py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2B54E-32EE-4504-B68A-F7119418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42936-6DB8-46A7-B82C-51C1AEC2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A4A88-E50D-4557-A972-6989E9CD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산출물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62B34-53E7-46D2-A2DA-848B261E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577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2_Output, TOTAL_MASTER_*.csv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395A2-1912-4ACB-9F8E-45E9721B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2026-06-22</a:t>
            </a:r>
          </a:p>
        </p:txBody>
      </p:sp>
    </p:spTree>
    <p:extLst>
      <p:ext uri="{BB962C8B-B14F-4D97-AF65-F5344CB8AC3E}">
        <p14:creationId xmlns:p14="http://schemas.microsoft.com/office/powerpoint/2010/main" val="1251290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1E5BC7-7C9B-4C83-8CFE-20D238C8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1EC5A-57FE-4CBF-9175-C5670B1E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시스템이 하는 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D961D-B884-4499-A20A-621C93D9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D7DD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2A330-F695-42E1-B057-1F2AD38C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2194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FC225-227D-4E2E-9565-4D9B9283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328C3-FBC2-4032-A81D-FBDB6D10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목적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61CA1-C919-444F-B2E5-04EDEC1C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28003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여러 Subsidiary CSV를 같은 기준으로 정규화하고, 미디어/제품 매핑을 적용해 마스터 DB에 누적합니다.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3B9C1-53E5-47A1-804B-C06C0FE1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32194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0BF8B-CF67-4CBD-AF15-1D19F024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0DAE7-491A-41C7-AC8E-2347A615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처리 단위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FE198-1441-496B-AA1D-422AFAD2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19350"/>
            <a:ext cx="28003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1_Input 폴더의 CSV를 하나씩 처리합니다. 파일 단위 오류는 로그를 남기고 다음 파일로 넘어갑니다.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67875-45EE-4D75-9FB6-A2301D15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66900"/>
            <a:ext cx="32194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441D8-486E-443B-A6B8-B5276172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6690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07E10-8187-41C0-B287-7E34C160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최종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195EA-AEDF-4B5F-9147-52032B2C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19350"/>
            <a:ext cx="28003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개별 cleaned CSV, 변경 요약, 미매핑 리포트, TOTAL_MASTER_MX/CE를 생성 또는 갱신합니다.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E27BB-2F3E-4C43-B2B8-62EE21A6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운영자가 매번 확인해야 하는 기준은 입력 CSV, 3_Config 매핑 Excel, cleansing_log.txt, Reports 미매핑 파일입니다.</a:t>
            </a:r>
          </a:p>
        </p:txBody>
      </p:sp>
    </p:spTree>
    <p:extLst>
      <p:ext uri="{BB962C8B-B14F-4D97-AF65-F5344CB8AC3E}">
        <p14:creationId xmlns:p14="http://schemas.microsoft.com/office/powerpoint/2010/main" val="281915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BDD31B-A072-4140-BC6D-0C465814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F2B31-C1DB-49EF-9E9E-92755F2F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전체 실행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D6DE5-ACF4-4C5C-8892-3C8BE34C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D7DD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21B5F-2026-4E92-BC41-B395912F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952625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BA1A3-324C-47A0-9673-6A39F347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E0CFD-3E6C-45E9-82FB-B96D405C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매핑 로드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59871-46AA-42F6-A2F5-6A5FB0FA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Excel -&gt; JSON 캐시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media / MX / 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37ACE-B813-4AF4-A50E-A0A21227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57450"/>
            <a:ext cx="1952625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3823F-9B9A-4A01-BBD9-AC19ABEB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479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EF780-2149-4088-82A4-14AA85F6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CSV 스캔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BD08F-0BB7-4554-BC53-5C26AA24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766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1_Input/*.csv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파일별 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4CD93-240B-487C-9A67-E08FD604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57450"/>
            <a:ext cx="1952625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FE816-585A-48CE-B022-875AA46B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479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B2E98-8927-442A-9E9B-C3780C07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공통 정제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9DD27-BDB9-4BC2-BADC-7E387143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766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헤더, 날짜, 지표,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미디어 매핑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1C05B-4EB0-4814-A160-F489F17A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1952625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A1EF5-B0EC-4F04-BAF3-3BA25B20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7791F"/>
                </a:solidFill>
              </a:defRPr>
            </a:pPr>
            <a:r>
              <a:rPr sz="2550" b="1">
                <a:solidFill>
                  <a:srgbClr val="B7791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C1F27-8E53-4B5F-9812-445F5F8E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분기 처리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BBA52-344C-4805-828F-789014B4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766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BU 있으면 CE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없으면 MX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65FC9-746C-4F28-B860-FC374431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57450"/>
            <a:ext cx="1952625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0FE31-129D-4E00-923E-B37009CB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479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2410C"/>
                </a:solidFill>
              </a:defRPr>
            </a:pPr>
            <a:r>
              <a:rPr sz="2550" b="1">
                <a:solidFill>
                  <a:srgbClr val="C2410C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A401C-92F3-45BE-A8DB-7B0407AC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저장/갱신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07EF7D-9BB9-40FB-BF62-781C36B2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766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개별 결과 저장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마스터 DB 반영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23497-6A23-4929-9C9C-05CCEF04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main_workflow()는 전체 try/catch로 감싸져 있고, 개별 파일 오류는 continue로 격리됩니다.</a:t>
            </a:r>
          </a:p>
        </p:txBody>
      </p:sp>
    </p:spTree>
    <p:extLst>
      <p:ext uri="{BB962C8B-B14F-4D97-AF65-F5344CB8AC3E}">
        <p14:creationId xmlns:p14="http://schemas.microsoft.com/office/powerpoint/2010/main" val="2144542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987BEE-FA47-4932-81F2-A555E84E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ACFD2-F214-4F79-8A5A-7878EDE6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폴더와 설정 파일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CD808-CE1E-4FA9-B82D-B805D2BA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D7DDE8"/>
            </a:solidFill>
            <a:prstDash val="solid"/>
          </a:ln>
        </p:spPr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1752600"/>
          <a:ext xmlns:a="http://schemas.openxmlformats.org/drawingml/2006/main" cx="10858500" cy="3524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38250"/>
                <a:gridCol w="2190750"/>
                <a:gridCol w="3476625"/>
                <a:gridCol w="3952875"/>
              </a:tblGrid>
              <a:tr h="503464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영역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경로/파일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운영 포인트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입력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1_Input/*.csv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원본 CSV 투입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파일이 Excel에서 열려 있으면 로드 실패</a:t>
                      </a:r>
                    </a:p>
                  </a:txBody>
                  <a:tcPr marL="91440" marR="91440" marT="45720" marB="45720"/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출력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2_Output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cleaned 결과/요약/마스터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CSV 결과물은 커밋 제외</a:t>
                      </a:r>
                    </a:p>
                  </a:txBody>
                  <a:tcPr marL="91440" marR="91440" marT="45720" marB="45720"/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매핑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3_Config/*.xlsx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Media/Product 표준 매핑 원천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수정 후 실행하면 JSON 재생성</a:t>
                      </a:r>
                    </a:p>
                  </a:txBody>
                  <a:tcPr marL="91440" marR="91440" marT="45720" marB="45720"/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캐시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3_Config/*.json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merge용 빠른 lookup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Excel 기준 자동 생성</a:t>
                      </a:r>
                    </a:p>
                  </a:txBody>
                  <a:tcPr marL="91440" marR="91440" marT="45720" marB="45720"/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로그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cleansing_log.txt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실행/스킵/업데이트 근거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오류 원인 1차 확인</a:t>
                      </a:r>
                    </a:p>
                  </a:txBody>
                  <a:tcPr marL="91440" marR="91440" marT="45720" marB="45720"/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코드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src/*.py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파이프라인, 리포팅, 갱신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로직 변경 시만 커밋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448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BF11AD-70EE-4E1E-A508-FD8E590F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94166-6431-44E8-B034-5499C457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공통 전처리 규칙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38F2F-9AE3-4FF1-83CF-CCE9E24D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D7DD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63208-04AB-4D2E-B863-7F1C388F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4953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EF917-141A-4BB6-930D-8C22211F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A3C83-F974-4F72-A4E9-EB7ECF20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sanitize_column_headers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80438-B8F3-4AE3-A84E-1F854D19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14575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BOM, 줄바꿈, 따옴표, 연속 공백을 제거하고 중복 컬럼은 first-win으로 정리합니다.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C5442-2A4B-487A-ABFD-B36ECCAD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62125"/>
            <a:ext cx="4953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36D3B-F690-49BB-9B8A-2484B960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6212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7AC92-DFB0-4508-9DD5-B2E0220B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526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process_and_filter_dates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D2996-A4CF-4413-BAD7-79A401CE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14575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Excel serial date와 텍스트 날짜를 파싱하고 2025-01-01 이후 데이터만 유지합니다.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AA94F-68E3-4562-B710-C32ABDD7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4953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7589C-F81C-4BEA-9BA2-C8EFBC05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5562A-D69F-47A1-8213-3D4E420C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process_metric_columns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2F135-B2B0-4A94-95C2-56F0657A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29075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Spend, Revenue, Clicks 등 수치 컬럼을 숫자로 바꾸고 CPC를 재계산합니다.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758B8-7CF8-4542-9836-7F6A1270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76625"/>
            <a:ext cx="4953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AEC62-3F6F-414C-BEE9-D42F427A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7662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3DA49-D425-46FF-854E-A8EC8686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67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fast_normalize_text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36FFE-3480-4E6D-83B8-D4E80D59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29075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CamelCase, 숫자+문자 조합, 대소문자 편차를 벡터화 방식으로 표준화합니다.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4FC4E0-EFFB-4FB1-828D-E0E2FCC6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전처리 실패나 컬럼명 변형은 대부분 이 네 구간에서 흡수됩니다. 신규 원본 양식이 들어오면 먼저 여기 로그를 봅니다.</a:t>
            </a:r>
          </a:p>
        </p:txBody>
      </p:sp>
    </p:spTree>
    <p:extLst>
      <p:ext uri="{BB962C8B-B14F-4D97-AF65-F5344CB8AC3E}">
        <p14:creationId xmlns:p14="http://schemas.microsoft.com/office/powerpoint/2010/main" val="7522330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45D3F2-6C29-4314-A614-A6395C10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1627D-6EBB-4B03-84BC-F37BC2CD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매핑과 분기 로직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6B158-89DA-4752-A1E5-D56F213F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D7DD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6D4C8-1ACA-450C-987B-F913BD86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7F736-BDFF-47CE-B537-077E3895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9F690-12EF-4AD6-A429-B2757D88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Media Mapping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09D5A-33F6-474A-A85A-9329BFD3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29146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run_cleansing_pipeline(..., is_media=True)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- F_Key 기준 merge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- Affiliate는 Media Type 2를 key로 사용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- 실패 시 raw media 값을 보존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C9AAC-BFD9-406E-9C1E-A943B10A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84260-3E77-4916-8FDD-D86A64E3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F8088-455F-4BC1-97F0-A8DC54B0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002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MX 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F4357-F023-4C8B-9826-33A33385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9146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run_cleansing_pipeline(...MX)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- C_Key 기준 merge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- priority 4~0 점수화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- Multi/누락 category rescue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0FBBC-6C0C-4F29-BB0C-1B74C6E2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F8387-C143-463A-A31B-6F4202DD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08D41-823C-4D51-849C-60718ABA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CE Product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F4C4D-E9F0-4E99-96B1-D4B028F5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9146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run_ce_product_cleansing()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- A_Key 기준 category lookup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- unique series만 global lookup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- BU division rule 적용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A63B6-FE23-4351-9BED-89DE3F27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분기 기준: 원본 CSV에 BU 컬럼이 있으면 CE, 없으면 MX로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18966759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5C66B9-22A1-4890-8F4D-BF2CC567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BD72F-8BEF-42C0-B60D-A410F26D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MX와 CE의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E4263-B2D0-4239-933E-8B339974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D7DDE8"/>
            </a:solidFill>
            <a:prstDash val="solid"/>
          </a:ln>
        </p:spPr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1752600"/>
          <a:ext xmlns:a="http://schemas.openxmlformats.org/drawingml/2006/main" cx="10858500" cy="35814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05000"/>
                <a:gridCol w="4476750"/>
                <a:gridCol w="4476750"/>
              </a:tblGrid>
              <a:tr h="511629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MX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CE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</a:tr>
              <a:tr h="51162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분기 조건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BU 컬럼 없음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BU 컬럼 있음</a:t>
                      </a:r>
                    </a:p>
                  </a:txBody>
                  <a:tcPr marL="91440" marR="91440" marT="45720" marB="45720"/>
                </a:tc>
              </a:tr>
              <a:tr h="51162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제품 key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C_Key = Products 기준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A_Key = Product Category 기준</a:t>
                      </a:r>
                    </a:p>
                  </a:txBody>
                  <a:tcPr marL="91440" marR="91440" marT="45720" marB="45720"/>
                </a:tc>
              </a:tr>
              <a:tr h="51162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추가 보정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Mindset=Cold, Funding=GMO/Local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BU 대문자화, DIV_RULES override</a:t>
                      </a:r>
                    </a:p>
                  </a:txBody>
                  <a:tcPr marL="91440" marR="91440" marT="45720" marB="45720"/>
                </a:tc>
              </a:tr>
              <a:tr h="51162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Products 출력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Products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Products (Optional)</a:t>
                      </a:r>
                    </a:p>
                  </a:txBody>
                  <a:tcPr marL="91440" marR="91440" marT="45720" marB="45720"/>
                </a:tc>
              </a:tr>
              <a:tr h="51162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필터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별도 keyword filter 없음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Product Category_cleaned가 smartphones면 삭제</a:t>
                      </a:r>
                    </a:p>
                  </a:txBody>
                  <a:tcPr marL="91440" marR="91440" marT="45720" marB="45720"/>
                </a:tc>
              </a:tr>
              <a:tr h="51162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마스터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TOTAL_MASTER_MX.csv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TOTAL_MASTER_CE.csv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7607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4B31FD-F4B0-462F-86DD-9015C2AC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CCE9A-B629-4B99-BA53-C9C89F07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산출물과 리포트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39A41-C681-4BB0-8FB2-0D3D837F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D7DDE8"/>
            </a:solidFill>
            <a:prstDash val="solid"/>
          </a:ln>
        </p:spPr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52450" y="1676400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2095500"/>
                <a:gridCol w="3429000"/>
                <a:gridCol w="3181350"/>
              </a:tblGrid>
              <a:tr h="5715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산출물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위치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생성 로직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확인 포인트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cleaned_날짜~_원본.csv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2_Output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insert_cleaned_left_of_raw + save_to_csv_separated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cleaned 컬럼이 raw 왼쪽에 붙음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*_Summary_Prod.csv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2_Output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create_change_summary(PRODUCT_COLS)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제품 변경 조합과 Counts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*_Summary_Media.csv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2_Output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create_change_summary(MEDIA_COLS)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미디어 변경 조합과 Counts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Unmapped_Products.csv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2_Output/Reports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build_unmapped_product_rows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매핑 Excel 보완 후보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Unmapped_Media.csv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2_Output/Reports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save_unmapped_reports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F_Key 보완 후보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TOTAL_MASTER_MX/CE.csv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2_Output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updater.update_smart_db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최종 누적 DB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31101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B0A206-DA68-4CDD-9FE5-EB7C4B26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DAF07-D6DA-4794-9F77-DF02E9FC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마스터 DB 갱신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220C8-44E6-4DBF-BFC0-28D57A35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D7DD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875C1-7B88-42D1-BF85-44EC3843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9EC4B-091E-42FC-B625-DA9AA059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633B9-DC27-4DD7-AA1B-86D35D5F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1. 백업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DA770-3D16-4351-A927-43667146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2819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기존 TOTAL_MASTER 파일은 Backup_구분_YYYYMMDD_HHMMSS.csv로 먼저 복사합니다.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0AAC1-F51F-4ABF-BB90-E5EE65D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7FD51-B23E-468C-98C0-BA36E87D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D86C7-5561-4C29-8B86-C07088FF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431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2. 변경 시작점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AC93C-C62C-447A-8B51-0ED0F2A6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05050"/>
            <a:ext cx="2819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Subsidiary별 Week 합계를 비교하고, 차이가 있으면 Date 합계까지 내려가 cutoff를 찾습니다.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ADAF1-140C-4F8D-9DFD-C2519E8A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958FA-D83E-48E3-934F-31A343A3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BDF2B-4169-4D09-912D-76A79530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431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3. 부분 치환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510C0-AB9D-4E34-AFA5-D7051A16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19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cutoff 이전 기존 데이터는 유지하고, cutoff 이후는 새 데이터로 교체해 최종 CSV를 씁니다.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1BD55-1DDB-4D2B-A883-3A6557E5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정밀도 잡음 방지를 위해 주요 metric은 비교 전 숫자화하고 소수점 2자리로 반올림합니다.</a:t>
            </a:r>
          </a:p>
        </p:txBody>
      </p:sp>
    </p:spTree>
    <p:extLst>
      <p:ext uri="{BB962C8B-B14F-4D97-AF65-F5344CB8AC3E}">
        <p14:creationId xmlns:p14="http://schemas.microsoft.com/office/powerpoint/2010/main" val="1186222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E03F5C-7DF1-4AE7-9081-3471760A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257D7-3A8A-4B13-9FF4-B403436F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운영 체크리스트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265FC-81D3-43C3-9642-0D8C0DA3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D7DDE8"/>
            </a:solidFill>
            <a:prstDash val="solid"/>
          </a:ln>
        </p:spPr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14350" y="1676400"/>
          <a:ext xmlns:a="http://schemas.openxmlformats.org/drawingml/2006/main" cx="111633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666750"/>
                <a:gridCol w="2333625"/>
                <a:gridCol w="2333625"/>
                <a:gridCol w="2476500"/>
                <a:gridCol w="2476500"/>
                <a:gridCol w="876300"/>
              </a:tblGrid>
              <a:tr h="585107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작업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성공 기준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실패 신호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조치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커밋</a:t>
                      </a:r>
                    </a:p>
                  </a:txBody>
                  <a:tcPr marL="91440" marR="91440" marT="45720" marB="45720">
                    <a:solidFill>
                      <a:srgbClr val="172033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1_Input에 CSV 투입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파일 로드 로그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Permission/Encoding 오류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Excel 닫기, 인코딩 확인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No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3_Config 매핑 확인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JSON 캐시 생성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Excel 누락/컬럼 불일치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매핑 Excel 수정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Yes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run.py 실행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모든 작업 완료 로그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파일별 Skip/Error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cleansing_log 확인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No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Reports 미매핑 확인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미매핑 감소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신규 key 증가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매핑 등록 후 재실행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Yes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TOTAL_MASTER 검증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행수/날짜 정상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급감/급증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Backup과 비교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No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Git 커밋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코드/설정만 포함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CSV staged 포함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git diff --cached 확인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</a:rPr>
                        <a:t>Yes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2490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491CA3-BE69-44D7-B81A-97DD9850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GMO Cleansing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46F78-471A-4463-BE01-FA7089F8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장애 대응과 인수인계 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96AA9-7133-4BEB-B594-18F360D6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D7DD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E81E9-0A31-4F1C-860A-76BC859B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361EE-6BF3-420D-B552-CB59DA49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71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BBF43-77D0-43CF-962C-123B1B72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CSV 로드 실패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7B8D6-9009-4096-B939-73D0ADB4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29146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utils.load_csv_safely는 utf-8-sig, cp949 순서로 시도합니다. PermissionError는 파일 열림 여부부터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7FA93-B916-4CAC-B410-661C37AF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5260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9E86C-43A7-4E68-AFCD-4BC31684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52600"/>
            <a:ext cx="571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B273D-C3E3-41F7-B3EF-F0735B8E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431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미매핑 증가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40A2E-DD8B-4C77-B2CE-AB174B9A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29146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Reports의 Unmapped 파일을 기준으로 media/product mapping Excel에 key를 추가하고 다시 실행합니다.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853A9-9691-4AA4-BA49-5787BB5A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8005E-FF1F-4493-A660-2863D99F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571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DDECA-0F13-4D41-8C21-36B7DCB3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431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마스터 이상치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22796-F50B-4603-AA09-7DED3E7B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29146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Backup 폴더의 직전 파일과 TOTAL_MASTER를 비교합니다. cutoff 이후만 바뀌는 구조인지 확인합니다.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0F731-7F82-4728-AB73-C10105B6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데이터 CSV는 저장소 커밋 대상이 아닙니다. 커밋 전 staged 파일에 1_Input/2_Output CSV가 없는지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832010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BA523736A28D74F84B03CC31B37893E" ma:contentTypeVersion="17" ma:contentTypeDescription="새 문서를 만듭니다." ma:contentTypeScope="" ma:versionID="7369342f8e9f44c9495f691b28e8f420">
  <xsd:schema xmlns:xsd="http://www.w3.org/2001/XMLSchema" xmlns:xs="http://www.w3.org/2001/XMLSchema" xmlns:p="http://schemas.microsoft.com/office/2006/metadata/properties" xmlns:ns2="470a07d5-0222-4d70-ad9e-4222da94921d" xmlns:ns3="d2b42923-918a-4c3d-87c9-632d08f647f2" targetNamespace="http://schemas.microsoft.com/office/2006/metadata/properties" ma:root="true" ma:fieldsID="fe9b6568e8071b136a4dd719ec0a0cd7" ns2:_="" ns3:_="">
    <xsd:import namespace="470a07d5-0222-4d70-ad9e-4222da94921d"/>
    <xsd:import namespace="d2b42923-918a-4c3d-87c9-632d08f647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a07d5-0222-4d70-ad9e-4222da9492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5e14dd06-0c66-460f-ad99-bde37bef42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b42923-918a-4c3d-87c9-632d08f647f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e01eacad-cc3b-4972-b95e-f65b08a440a6}" ma:internalName="TaxCatchAll" ma:showField="CatchAllData" ma:web="d2b42923-918a-4c3d-87c9-632d08f647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0a07d5-0222-4d70-ad9e-4222da94921d">
      <Terms xmlns="http://schemas.microsoft.com/office/infopath/2007/PartnerControls"/>
    </lcf76f155ced4ddcb4097134ff3c332f>
    <TaxCatchAll xmlns="d2b42923-918a-4c3d-87c9-632d08f647f2" xsi:nil="true"/>
  </documentManagement>
</p:properties>
</file>

<file path=customXml/itemProps1.xml><?xml version="1.0" encoding="utf-8"?>
<ds:datastoreItem xmlns:ds="http://schemas.openxmlformats.org/officeDocument/2006/customXml" ds:itemID="{1ABB93DE-8D1F-40F3-8FCC-D81A4F69C2D8}"/>
</file>

<file path=customXml/itemProps2.xml><?xml version="1.0" encoding="utf-8"?>
<ds:datastoreItem xmlns:ds="http://schemas.openxmlformats.org/officeDocument/2006/customXml" ds:itemID="{652A25CE-1282-4419-9C74-BD966BEA4282}"/>
</file>

<file path=customXml/itemProps3.xml><?xml version="1.0" encoding="utf-8"?>
<ds:datastoreItem xmlns:ds="http://schemas.openxmlformats.org/officeDocument/2006/customXml" ds:itemID="{1907C023-8FE6-4010-B8B0-E145DA10597A}"/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2026-06-22T08:04:29Z</dcterms:created>
  <dcterms:modified xsi:type="dcterms:W3CDTF">2026-06-22T08:04:29Z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0x0101005BA523736A28D74F84B03CC31B37893E</vt:lpwstr>
  </property>
</Properties>
</file>